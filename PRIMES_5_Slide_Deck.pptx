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Novelty &amp;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0"/>
                </a:solidFill>
                <a:latin typeface="Calibri"/>
              </a:rPr>
              <a:t>PRIMES — Smart Scan Strategy for Electronic Warfare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6949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D7E1EC"/>
                </a:solidFill>
                <a:latin typeface="Calibri"/>
              </a:rPr>
              <a:t>PRIMES learns WHEN and WHERE to look in the spectrum — with no prior threat library — from its own hits and misses.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Interval-censored timing inference</a:t>
            </a:r>
            <a:r>
              <a:rPr sz="1450">
                <a:solidFill>
                  <a:srgbClr val="D7E1EC"/>
                </a:solidFill>
                <a:latin typeface="Calibri"/>
              </a:rPr>
              <a:t>  A miss isn't a null event — a d-ms look that saw nothing eliminates a whole phase interval for every candidate period.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Learned discrete period prior</a:t>
            </a:r>
            <a:r>
              <a:rPr sz="1450">
                <a:solidFill>
                  <a:srgbClr val="D7E1EC"/>
                </a:solidFill>
                <a:latin typeface="Calibri"/>
              </a:rPr>
              <a:t>  96.2% of 128,252 real radar scan periods fall on just 22 values → after one catch, ~19 candidate return times, not a continuum.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Two competing emitter models</a:t>
            </a:r>
            <a:r>
              <a:rPr sz="1450">
                <a:solidFill>
                  <a:srgbClr val="D7E1EC"/>
                </a:solidFill>
                <a:latin typeface="Calibri"/>
              </a:rPr>
              <a:t>  Periodic flash vs. Gilbert–Elliott on/off, arbitrated by Bayes factors — covers the 88% of real emitters that aren't clean periodic flashes.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Value-per-unit-receiver-time index</a:t>
            </a:r>
            <a:r>
              <a:rPr sz="1450">
                <a:solidFill>
                  <a:srgbClr val="D7E1EC"/>
                </a:solidFill>
                <a:latin typeface="Calibri"/>
              </a:rPr>
              <a:t>  Unifies exploit / discover-new / resolve-timing on one scale, so a 5 ms and a 100 ms option are directly comparable.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74519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Micro dwell controller</a:t>
            </a:r>
            <a:r>
              <a:rPr sz="1450">
                <a:solidFill>
                  <a:srgbClr val="D7E1EC"/>
                </a:solidFill>
                <a:latin typeface="Calibri"/>
              </a:rPr>
              <a:t>  5 ms search looks, extend-on-partial-pulse, stop-on-confirm → lock-out 60.2%→69.1%, first-catch time cut 30–35%.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Anti-synchronization by design</a:t>
            </a:r>
            <a:r>
              <a:rPr sz="1450">
                <a:solidFill>
                  <a:srgbClr val="D7E1EC"/>
                </a:solidFill>
                <a:latin typeface="Calibri"/>
              </a:rPr>
              <a:t>  Golden-ratio dither in search mode — structurally immune to the lock-out that defeats fixed sweeps.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Explainable by construction</a:t>
            </a:r>
            <a:r>
              <a:rPr sz="1450">
                <a:solidFill>
                  <a:srgbClr val="D7E1EC"/>
                </a:solidFill>
                <a:latin typeface="Calibri"/>
              </a:rPr>
              <a:t>  Every dwell decision logs the numbers that produced it — shown live in the demo's decision panel.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450">
                <a:solidFill>
                  <a:srgbClr val="2EC4B6"/>
                </a:solidFill>
                <a:latin typeface="Calibri"/>
              </a:rPr>
              <a:t>›  Threat-aware priority (optional)</a:t>
            </a:r>
            <a:r>
              <a:rPr sz="1450">
                <a:solidFill>
                  <a:srgbClr val="D7E1EC"/>
                </a:solidFill>
                <a:latin typeface="Calibri"/>
              </a:rPr>
              <a:t>  Classifies emitter threat level from observed parameters alone; operator-selectable mission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806440"/>
            <a:ext cx="11247120" cy="5029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Design principle: don't ask ML to rediscover radar physics — model what is known, learn the parameters online, let learning handle the residue.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2/5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0"/>
                </a:solidFill>
                <a:latin typeface="Calibri"/>
              </a:rPr>
              <a:t>PRIMES — Smart Scan Strategy for Electronic Warfare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4B6"/>
                </a:solidFill>
                <a:latin typeface="Calibri"/>
              </a:rPr>
              <a:t>Closed loop: observe → associate → predict → score → schedule → learn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3794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178308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8288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RF Front-End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1051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Antenna → tunable receiver → digitiser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13232" y="233172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42316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7802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242316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46888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Signal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45059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Pulse detection (CFAR) → PDW extraction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13232" y="297180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06324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1810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306324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310896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Deinterleaving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09067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Gate on AoA/freq/PW → cluster into tracks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713232" y="361188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70332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5818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370332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Emitter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73075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Periodic + on/off model bank, undiscovered belief, learned priors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713232" y="425196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434340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39826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4440" y="434340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438912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37083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Rate index, micro dwell controller, dither, staleness governor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713232" y="489204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498348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03834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34440" y="498348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50292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501091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Online: timing posteriors, visibility κ | Offline: priors, tuning, residual RL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713232" y="5532120"/>
            <a:ext cx="137160" cy="118872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7200" y="5623560"/>
            <a:ext cx="685800" cy="5669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78424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1E33"/>
                </a:solidFill>
                <a:latin typeface="Calibri"/>
              </a:rPr>
              <a:t>L6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34440" y="5623560"/>
            <a:ext cx="7040880" cy="566928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566928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Control &amp; HMI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5650992"/>
            <a:ext cx="502920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7E1EC"/>
                </a:solidFill>
                <a:latin typeface="Calibri"/>
              </a:rPr>
              <a:t>Operator priorities, decision explanations, C2/fusion interface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49640" y="1783080"/>
            <a:ext cx="3200400" cy="214884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187451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E"/>
                </a:solidFill>
                <a:latin typeface="Calibri"/>
              </a:rPr>
              <a:t>DECISION RULE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2148840"/>
            <a:ext cx="2926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Value per unit receiver time: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I(c,d) =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  [ exploit known emitters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  + discover new emitters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  + λ · information gain ]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1EC"/>
                </a:solidFill>
                <a:latin typeface="Consolas"/>
              </a:rPr>
              <a:t>  ÷ (dwell + retune cost)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49640" y="4069080"/>
            <a:ext cx="3200400" cy="196596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41605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E"/>
                </a:solidFill>
                <a:latin typeface="Calibri"/>
              </a:rPr>
              <a:t>TECH STACK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443484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D7E1EC"/>
                </a:solidFill>
                <a:latin typeface="Calibri"/>
              </a:rPr>
              <a:t>•  Python 3.12 + NumPy — core index/predict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D7E1EC"/>
                </a:solidFill>
                <a:latin typeface="Calibri"/>
              </a:rPr>
              <a:t>•  Gymnasium + SB3 Double-DQN — ML comparator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D7E1EC"/>
                </a:solidFill>
                <a:latin typeface="Calibri"/>
              </a:rPr>
              <a:t>•  FastAPI backend  ·  Next.js/React frontend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D7E1EC"/>
                </a:solidFill>
                <a:latin typeface="Calibri"/>
              </a:rPr>
              <a:t>•  pytest (20 tests) · seeded, replayable benchmark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A9BB0"/>
                </a:solidFill>
                <a:latin typeface="Calibri"/>
              </a:rPr>
              <a:t>Repo modules: primes/env (receiver+scenarios) · primes/predict (track models) · primes/policies/primes_lite.py (index) · api/main.py + web/ (demo)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Impact &amp;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3/5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0"/>
                </a:solidFill>
                <a:latin typeface="Calibri"/>
              </a:rPr>
              <a:t>PRIMES — Smart Scan Strategy for Electronic Warfare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697480" cy="11887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EC4B6"/>
                </a:solidFill>
                <a:latin typeface="Calibri"/>
              </a:rPr>
              <a:t>4.2×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more flashes intercepted vs.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open-loop sweep (real data)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697480" cy="11887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8132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CD97B"/>
                </a:solidFill>
                <a:latin typeface="Calibri"/>
              </a:rPr>
              <a:t>69.8%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574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PRIMES interception on real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Turing dataset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697480" cy="11887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48132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2A61E"/>
                </a:solidFill>
                <a:latin typeface="Calibri"/>
              </a:rPr>
              <a:t>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lock-out emitters discovered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(raster: only 15%)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371600"/>
            <a:ext cx="2697480" cy="11887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48132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EC4B6"/>
                </a:solidFill>
                <a:latin typeface="Calibri"/>
              </a:rPr>
              <a:t>3.2×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0574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faster time-to-first-catch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D7E1EC"/>
                </a:solidFill>
                <a:latin typeface="Calibri"/>
              </a:rPr>
              <a:t>(lock-out: 55.7s → 17.2s)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HEADLINE BENCHMARK (610 runs, real dataset scenarios)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3108960"/>
          <a:ext cx="5943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011680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E33"/>
                          </a:solidFill>
                          <a:latin typeface="Calibri"/>
                        </a:rPr>
                        <a:t>Scheme</a:t>
                      </a:r>
                    </a:p>
                  </a:txBody>
                  <a:tcPr marL="76200" marR="76200" marT="38100" marB="38100" anchor="ctr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1E33"/>
                          </a:solidFill>
                          <a:latin typeface="Calibri"/>
                        </a:rPr>
                        <a:t>Interception</a:t>
                      </a:r>
                    </a:p>
                  </a:txBody>
                  <a:tcPr marL="76200" marR="76200" marT="38100" marB="38100" anchor="ctr">
                    <a:solidFill>
                      <a:srgbClr val="2EC4B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Open-loop raster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16.8%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Greedy bandit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20.3%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Double-DQN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15.3%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PRIMES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69.8%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Clairvoyant oracle (upper bound)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7E1EC"/>
                          </a:solidFill>
                          <a:latin typeface="Calibri"/>
                        </a:rPr>
                        <a:t>84.8%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720840" y="310896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2EC4B6"/>
                </a:solidFill>
                <a:latin typeface="Calibri"/>
              </a:rPr>
              <a:t>›  Operational</a:t>
            </a:r>
            <a:r>
              <a:rPr sz="1300">
                <a:solidFill>
                  <a:srgbClr val="D7E1EC"/>
                </a:solidFill>
                <a:latin typeface="Calibri"/>
              </a:rPr>
              <a:t>  4.2× more of the EM picture; blind spots eliminated; earlier warning; better PRI/scan estimates from more samples.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2EC4B6"/>
                </a:solidFill>
                <a:latin typeface="Calibri"/>
              </a:rPr>
              <a:t>›  Economic</a:t>
            </a:r>
            <a:r>
              <a:rPr sz="1300">
                <a:solidFill>
                  <a:srgbClr val="D7E1EC"/>
                </a:solidFill>
                <a:latin typeface="Calibri"/>
              </a:rPr>
              <a:t>  Zero new hardware — a software upgrade to fielded receivers; one artefact set deploys fleet-wide.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2EC4B6"/>
                </a:solidFill>
                <a:latin typeface="Calibri"/>
              </a:rPr>
              <a:t>›  Strategic</a:t>
            </a:r>
            <a:r>
              <a:rPr sz="1300">
                <a:solidFill>
                  <a:srgbClr val="D7E1EC"/>
                </a:solidFill>
                <a:latin typeface="Calibri"/>
              </a:rPr>
              <a:t>  Works without an imported threat library; priors refit locally; transparent, auditable AI (not black-box RL).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2EC4B6"/>
                </a:solidFill>
                <a:latin typeface="Calibri"/>
              </a:rPr>
              <a:t>›  Beyond defence</a:t>
            </a:r>
            <a:r>
              <a:rPr sz="1300">
                <a:solidFill>
                  <a:srgbClr val="D7E1EC"/>
                </a:solidFill>
                <a:latin typeface="Calibri"/>
              </a:rPr>
              <a:t>  Spectrum regulation, interference hunting, radio-astronomy RFI mitigation, general sensor scheduling.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Feasibility &amp;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4/5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0"/>
                </a:solidFill>
                <a:latin typeface="Calibri"/>
              </a:rPr>
              <a:t>PRIMES — Smart Scan Strategy for Electronic Warfare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4B6"/>
                </a:solidFill>
                <a:latin typeface="Calibri"/>
              </a:rPr>
              <a:t>Not a proposal — a working, tested prototype with measured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D7E1EC"/>
                </a:solidFill>
                <a:latin typeface="Calibri"/>
              </a:rPr>
              <a:t>›  20 unit tests · 610-run multi-seed benchmark (95% bootstrap CIs)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D7E1EC"/>
                </a:solidFill>
                <a:latin typeface="Calibri"/>
              </a:rPr>
              <a:t>›  1,008-run robustness sweep across P_d / P_fa conditions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D7E1EC"/>
                </a:solidFill>
                <a:latin typeface="Calibri"/>
              </a:rPr>
              <a:t>›  Validated on 11 real Turing dataset scenarios, not just simulation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D7E1EC"/>
                </a:solidFill>
                <a:latin typeface="Calibri"/>
              </a:rPr>
              <a:t>›  PRIMES/oracle ratio stays 0.67–0.75 as detection probability drops 1.0→0.5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D7E1EC"/>
                </a:solidFill>
                <a:latin typeface="Calibri"/>
              </a:rPr>
              <a:t>›  ≤2-point interception loss up to ~23 false alarms/run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577840" cy="196596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062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E"/>
                </a:solidFill>
                <a:latin typeface="Calibri"/>
              </a:rPr>
              <a:t>RESOURCE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0560"/>
            <a:ext cx="5257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Dev compute: a laptop (benchmark ~45 min on 3 cores)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Data: open, Apache-2.0 licensed, streamed (no bulk storage)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Licences/cost: $0 — fully open-source stack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Runtime target: ~10⁴ ops/decision → fits embedded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E"/>
                </a:solidFill>
                <a:latin typeface="Calibri"/>
              </a:rPr>
              <a:t>PATH TO FIELDED CAPABILITY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55080" y="214884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109728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E33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6200" marR="76200" marT="38100" marB="38100" anchor="ctr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1E33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6200" marR="76200" marT="38100" marB="38100" anchor="ctr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1E33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marL="76200" marR="76200" marT="38100" marB="38100" anchor="ctr">
                    <a:solidFill>
                      <a:srgbClr val="2EC4B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TRL 3–4 (now)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Algorithm + simulator + dataset validation + demo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TRL 4–5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Real deinterleaving, HW-in-loop (SDR), C++/ONNX port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3–6 mo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TRL 5–6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ESM suite integration, multi-receiver, trials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6–12 mo</a:t>
                      </a:r>
                    </a:p>
                  </a:txBody>
                  <a:tcPr marL="76200" marR="76200" marT="38100" marB="38100" anchor="ctr">
                    <a:solidFill>
                      <a:srgbClr val="112A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TRL 6+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Multi-platform fusion, certification, field trials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7E1EC"/>
                          </a:solidFill>
                          <a:latin typeface="Calibri"/>
                        </a:rPr>
                        <a:t>12+ mo</a:t>
                      </a:r>
                    </a:p>
                  </a:txBody>
                  <a:tcPr marL="76200" marR="76200" marT="38100" marB="38100" anchor="ctr">
                    <a:solidFill>
                      <a:srgbClr val="163354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55080" y="4526280"/>
            <a:ext cx="5394960" cy="155448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6177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61E"/>
                </a:solidFill>
                <a:latin typeface="Calibri"/>
              </a:rPr>
              <a:t>KEY RISK &amp; MITIGATION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89204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b="1" sz="1100">
                <a:solidFill>
                  <a:srgbClr val="2EC4B6"/>
                </a:solidFill>
                <a:latin typeface="Calibri"/>
              </a:rPr>
              <a:t>›  Missed detections/false alarms</a:t>
            </a:r>
            <a:r>
              <a:rPr sz="1100">
                <a:solidFill>
                  <a:srgbClr val="D7E1EC"/>
                </a:solidFill>
                <a:latin typeface="Calibri"/>
              </a:rPr>
              <a:t>  Graceful degradation is measured, not assumed.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b="1" sz="1100">
                <a:solidFill>
                  <a:srgbClr val="2EC4B6"/>
                </a:solidFill>
                <a:latin typeface="Calibri"/>
              </a:rPr>
              <a:t>›  Real deinterleaving imperfect</a:t>
            </a:r>
            <a:r>
              <a:rPr sz="1100">
                <a:solidFill>
                  <a:srgbClr val="D7E1EC"/>
                </a:solidFill>
                <a:latin typeface="Calibri"/>
              </a:rPr>
              <a:t>  Prototype assumes upstream ID; dataset benchmarks this gap directly.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b="1" sz="1100">
                <a:solidFill>
                  <a:srgbClr val="2EC4B6"/>
                </a:solidFill>
                <a:latin typeface="Calibri"/>
              </a:rPr>
              <a:t>›  Embedded real-time budget</a:t>
            </a:r>
            <a:r>
              <a:rPr sz="1100">
                <a:solidFill>
                  <a:srgbClr val="D7E1EC"/>
                </a:solidFill>
                <a:latin typeface="Calibri"/>
              </a:rPr>
              <a:t>  Bounded per-decision cost by design; ONNX/C++ port path defined.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Links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0"/>
                </a:solidFill>
                <a:latin typeface="Calibri"/>
              </a:rPr>
              <a:t>PRIMES — Smart Scan Strategy for Electronic Warfare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577840" cy="169164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PROJECT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Repo: github.com/abhishek-pandey7/Smart-Scan-strategy-for-Electronic-Warfare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Full architecture doc: docs/PRIMES_FULL_ARCHITECTURE.md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>
                <a:solidFill>
                  <a:srgbClr val="D7E1EC"/>
                </a:solidFill>
                <a:latin typeface="Calibri"/>
              </a:rPr>
              <a:t>•  Live demo (local): localhost:3000/?scenario=lockout&amp;a=raster&amp;b=primes&amp;autorun=1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577840" cy="278892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REPRODUCE IT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0"/>
            <a:ext cx="5303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D97B"/>
                </a:solidFill>
                <a:latin typeface="Consolas"/>
              </a:rPr>
              <a:t>pip install -r requirements.txt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D97B"/>
                </a:solidFill>
                <a:latin typeface="Consolas"/>
              </a:rPr>
              <a:t>pytest -q                                  # 20 tests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D97B"/>
                </a:solidFill>
                <a:latin typeface="Consolas"/>
              </a:rPr>
              <a:t>python -m experiments.benchmark --seeds 10 # rebuild benchmark.json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D97B"/>
                </a:solidFill>
                <a:latin typeface="Consolas"/>
              </a:rPr>
              <a:t>uvicorn api.main:app --port 8000            # backend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D97B"/>
                </a:solidFill>
                <a:latin typeface="Consolas"/>
              </a:rPr>
              <a:t>cd web &amp;&amp; npm install &amp;&amp; npm run dev        # demo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1E"/>
                </a:solidFill>
                <a:latin typeface="Calibri"/>
              </a:rPr>
              <a:t>PRIOR ART WE BUILD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D7E1EC"/>
                </a:solidFill>
                <a:latin typeface="Calibri"/>
              </a:rPr>
              <a:t>•  Clarkson, Optimisation of periodic search strategies for ES, IEEE Trans. AES 2011 — lock-out theory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D7E1EC"/>
                </a:solidFill>
                <a:latin typeface="Calibri"/>
              </a:rPr>
              <a:t>•  Liu &amp; Zhao, Indexability of restless bandits &amp; Whittle index, IEEE Trans. IT 2010 — index paradigm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D7E1EC"/>
                </a:solidFill>
                <a:latin typeface="Calibri"/>
              </a:rPr>
              <a:t>•  Nakhleh et al., NeurWIN: Neural Whittle Index Network, NeurIPS 2021 — learned index roadmap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D7E1EC"/>
                </a:solidFill>
                <a:latin typeface="Calibri"/>
              </a:rPr>
              <a:t>•  ML-based Receiver Scheduling for ES (Double-DQN), IEEE Xplore 11310649 — our comparator baseline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D7E1EC"/>
                </a:solidFill>
                <a:latin typeface="Calibri"/>
              </a:rPr>
              <a:t>•  The Alan Turing Institute, Turing Synthetic Radar Dataset, arXiv:2602.03856 — validation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892040"/>
            <a:ext cx="5394960" cy="1143000"/>
          </a:xfrm>
          <a:prstGeom prst="round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98348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1">
                <a:solidFill>
                  <a:srgbClr val="F2A61E"/>
                </a:solidFill>
                <a:latin typeface="Calibri"/>
              </a:rPr>
              <a:t>Every figure in this deck is reproducible bit-for-bit from a seed — no number here is hand-picked.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