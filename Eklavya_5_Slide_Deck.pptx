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61E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Novelty &amp; 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9144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8A9BB0"/>
                </a:solidFill>
                <a:latin typeface="Calibri"/>
              </a:rPr>
              <a:t>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BB0"/>
                </a:solidFill>
                <a:latin typeface="Calibri"/>
              </a:rPr>
              <a:t>Smart Scan Strategy for Electronic Warfare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6949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D7E1EC"/>
                </a:solidFill>
                <a:latin typeface="Calibri"/>
              </a:rPr>
              <a:t>Smart Scan learns WHEN and WHERE to look in the spectrum — with no prior threat library — from its own hits and misses.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6766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450">
                <a:solidFill>
                  <a:srgbClr val="2EC4B6"/>
                </a:solidFill>
                <a:latin typeface="Calibri"/>
              </a:rPr>
              <a:t>›  Interval-censored timing inference</a:t>
            </a:r>
            <a:r>
              <a:rPr sz="1450">
                <a:solidFill>
                  <a:srgbClr val="D7E1EC"/>
                </a:solidFill>
                <a:latin typeface="Calibri"/>
              </a:rPr>
              <a:t>  A miss isn't a null event — a d-ms look that saw nothing eliminates a whole phase interval for every candidate period.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450">
                <a:solidFill>
                  <a:srgbClr val="2EC4B6"/>
                </a:solidFill>
                <a:latin typeface="Calibri"/>
              </a:rPr>
              <a:t>›  Learned discrete period prior</a:t>
            </a:r>
            <a:r>
              <a:rPr sz="1450">
                <a:solidFill>
                  <a:srgbClr val="D7E1EC"/>
                </a:solidFill>
                <a:latin typeface="Calibri"/>
              </a:rPr>
              <a:t>  96.2% of 128,252 real radar scan periods fall on just 22 values → after one catch, ~19 candidate return times, not a continuum.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450">
                <a:solidFill>
                  <a:srgbClr val="2EC4B6"/>
                </a:solidFill>
                <a:latin typeface="Calibri"/>
              </a:rPr>
              <a:t>›  Two competing emitter models</a:t>
            </a:r>
            <a:r>
              <a:rPr sz="1450">
                <a:solidFill>
                  <a:srgbClr val="D7E1EC"/>
                </a:solidFill>
                <a:latin typeface="Calibri"/>
              </a:rPr>
              <a:t>  Periodic flash vs. Gilbert–Elliott on/off, arbitrated by Bayes factors — covers the 88% of real emitters that aren't clean periodic flashes.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450">
                <a:solidFill>
                  <a:srgbClr val="2EC4B6"/>
                </a:solidFill>
                <a:latin typeface="Calibri"/>
              </a:rPr>
              <a:t>›  Value-per-unit-receiver-time index</a:t>
            </a:r>
            <a:r>
              <a:rPr sz="1450">
                <a:solidFill>
                  <a:srgbClr val="D7E1EC"/>
                </a:solidFill>
                <a:latin typeface="Calibri"/>
              </a:rPr>
              <a:t>  Unifies exploit / discover-new / resolve-timing on one scale, so a 5 ms and a 100 ms option are directly comparable.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874519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450">
                <a:solidFill>
                  <a:srgbClr val="2EC4B6"/>
                </a:solidFill>
                <a:latin typeface="Calibri"/>
              </a:rPr>
              <a:t>›  Micro dwell controller</a:t>
            </a:r>
            <a:r>
              <a:rPr sz="1450">
                <a:solidFill>
                  <a:srgbClr val="D7E1EC"/>
                </a:solidFill>
                <a:latin typeface="Calibri"/>
              </a:rPr>
              <a:t>  5 ms search looks, extend-on-partial-pulse, stop-on-confirm → lock-out 60.2%→69.1%, first-catch time cut 30–35%.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450">
                <a:solidFill>
                  <a:srgbClr val="2EC4B6"/>
                </a:solidFill>
                <a:latin typeface="Calibri"/>
              </a:rPr>
              <a:t>›  Anti-synchronization by design</a:t>
            </a:r>
            <a:r>
              <a:rPr sz="1450">
                <a:solidFill>
                  <a:srgbClr val="D7E1EC"/>
                </a:solidFill>
                <a:latin typeface="Calibri"/>
              </a:rPr>
              <a:t>  Golden-ratio dither in search mode — structurally immune to the lock-out that defeats fixed sweeps.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450">
                <a:solidFill>
                  <a:srgbClr val="2EC4B6"/>
                </a:solidFill>
                <a:latin typeface="Calibri"/>
              </a:rPr>
              <a:t>›  Explainable by construction</a:t>
            </a:r>
            <a:r>
              <a:rPr sz="1450">
                <a:solidFill>
                  <a:srgbClr val="D7E1EC"/>
                </a:solidFill>
                <a:latin typeface="Calibri"/>
              </a:rPr>
              <a:t>  Every dwell decision logs the numbers that produced it — shown live in the demo's decision panel.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450">
                <a:solidFill>
                  <a:srgbClr val="2EC4B6"/>
                </a:solidFill>
                <a:latin typeface="Calibri"/>
              </a:rPr>
              <a:t>›  Threat-aware priority (optional)</a:t>
            </a:r>
            <a:r>
              <a:rPr sz="1450">
                <a:solidFill>
                  <a:srgbClr val="D7E1EC"/>
                </a:solidFill>
                <a:latin typeface="Calibri"/>
              </a:rPr>
              <a:t>  Classifies emitter threat level from observed parameters alone; operator-selectable mission profile.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806440"/>
            <a:ext cx="11247120" cy="502920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61E"/>
                </a:solidFill>
                <a:latin typeface="Calibri"/>
              </a:rPr>
              <a:t>Design principle: don't ask ML to rediscover radar physics — model what is known, learn the parameters online, let learning handle the residue.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61E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Technical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9144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8A9BB0"/>
                </a:solidFill>
                <a:latin typeface="Calibri"/>
              </a:rPr>
              <a:t>2/5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BB0"/>
                </a:solidFill>
                <a:latin typeface="Calibri"/>
              </a:rPr>
              <a:t>Smart Scan Strategy for Electronic Warfare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C4B6"/>
                </a:solidFill>
                <a:latin typeface="Calibri"/>
              </a:rPr>
              <a:t>Closed loop: observe → associate → predict → score → schedule → learn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83080"/>
            <a:ext cx="685800" cy="566928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37944"/>
            <a:ext cx="685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B1E33"/>
                </a:solidFill>
                <a:latin typeface="Calibri"/>
              </a:rPr>
              <a:t>L0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1783080"/>
            <a:ext cx="7040880" cy="566928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82880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RF Front-End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810512"/>
            <a:ext cx="5029200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7E1EC"/>
                </a:solidFill>
                <a:latin typeface="Calibri"/>
              </a:rPr>
              <a:t>Antenna → tunable receiver → digitiser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713232" y="2331720"/>
            <a:ext cx="137160" cy="118872"/>
          </a:xfrm>
          <a:prstGeom prst="downArrow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2423160"/>
            <a:ext cx="685800" cy="566928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478024"/>
            <a:ext cx="685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B1E33"/>
                </a:solidFill>
                <a:latin typeface="Calibri"/>
              </a:rPr>
              <a:t>L1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2423160"/>
            <a:ext cx="7040880" cy="566928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246888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Signal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450592"/>
            <a:ext cx="5029200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7E1EC"/>
                </a:solidFill>
                <a:latin typeface="Calibri"/>
              </a:rPr>
              <a:t>Pulse detection (CFAR) → PDW extraction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713232" y="2971800"/>
            <a:ext cx="137160" cy="118872"/>
          </a:xfrm>
          <a:prstGeom prst="downArrow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063240"/>
            <a:ext cx="685800" cy="566928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118104"/>
            <a:ext cx="685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B1E33"/>
                </a:solidFill>
                <a:latin typeface="Calibri"/>
              </a:rPr>
              <a:t>L2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34440" y="3063240"/>
            <a:ext cx="7040880" cy="566928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310896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Deinterleaving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090672"/>
            <a:ext cx="5029200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7E1EC"/>
                </a:solidFill>
                <a:latin typeface="Calibri"/>
              </a:rPr>
              <a:t>Gate on AoA/freq/PW → cluster into tracks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713232" y="3611880"/>
            <a:ext cx="137160" cy="118872"/>
          </a:xfrm>
          <a:prstGeom prst="downArrow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3703320"/>
            <a:ext cx="685800" cy="566928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758184"/>
            <a:ext cx="685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B1E33"/>
                </a:solidFill>
                <a:latin typeface="Calibri"/>
              </a:rPr>
              <a:t>L3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34440" y="3703320"/>
            <a:ext cx="7040880" cy="566928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374904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Emitter Knowledge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3730752"/>
            <a:ext cx="5029200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7E1EC"/>
                </a:solidFill>
                <a:latin typeface="Calibri"/>
              </a:rPr>
              <a:t>Periodic + on/off model bank, undiscovered belief, learned priors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713232" y="4251960"/>
            <a:ext cx="137160" cy="118872"/>
          </a:xfrm>
          <a:prstGeom prst="downArrow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7200" y="4343400"/>
            <a:ext cx="685800" cy="566928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398264"/>
            <a:ext cx="685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B1E33"/>
                </a:solidFill>
                <a:latin typeface="Calibri"/>
              </a:rPr>
              <a:t>L4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34440" y="4343400"/>
            <a:ext cx="7040880" cy="566928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0" y="438912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4370832"/>
            <a:ext cx="5029200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7E1EC"/>
                </a:solidFill>
                <a:latin typeface="Calibri"/>
              </a:rPr>
              <a:t>Rate index, micro dwell controller, dither, staleness governor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713232" y="4892040"/>
            <a:ext cx="137160" cy="118872"/>
          </a:xfrm>
          <a:prstGeom prst="downArrow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7200" y="4983480"/>
            <a:ext cx="685800" cy="566928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038344"/>
            <a:ext cx="685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B1E33"/>
                </a:solidFill>
                <a:latin typeface="Calibri"/>
              </a:rPr>
              <a:t>L5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34440" y="4983480"/>
            <a:ext cx="7040880" cy="566928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0" y="502920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Learning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6120" y="5010912"/>
            <a:ext cx="5029200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7E1EC"/>
                </a:solidFill>
                <a:latin typeface="Calibri"/>
              </a:rPr>
              <a:t>Online: timing posteriors, visibility κ | Offline: priors, tuning, residual RL</a:t>
            </a:r>
          </a:p>
        </p:txBody>
      </p:sp>
      <p:sp>
        <p:nvSpPr>
          <p:cNvPr id="44" name="Down Arrow 43"/>
          <p:cNvSpPr/>
          <p:nvPr/>
        </p:nvSpPr>
        <p:spPr>
          <a:xfrm>
            <a:off x="713232" y="5532120"/>
            <a:ext cx="137160" cy="118872"/>
          </a:xfrm>
          <a:prstGeom prst="downArrow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57200" y="5623560"/>
            <a:ext cx="685800" cy="566928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78424"/>
            <a:ext cx="685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B1E33"/>
                </a:solidFill>
                <a:latin typeface="Calibri"/>
              </a:rPr>
              <a:t>L6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34440" y="5623560"/>
            <a:ext cx="7040880" cy="566928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71600" y="566928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Control &amp; HMI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46120" y="5650992"/>
            <a:ext cx="5029200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7E1EC"/>
                </a:solidFill>
                <a:latin typeface="Calibri"/>
              </a:rPr>
              <a:t>Operator priorities, decision explanations, C2/fusion interface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49640" y="1783080"/>
            <a:ext cx="3200400" cy="2148840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0" y="1874519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A61E"/>
                </a:solidFill>
                <a:latin typeface="Calibri"/>
              </a:rPr>
              <a:t>DECISION RULE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2148840"/>
            <a:ext cx="29260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7E1EC"/>
                </a:solidFill>
                <a:latin typeface="Consolas"/>
              </a:rPr>
              <a:t>Value per unit receiver time: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7E1EC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7E1EC"/>
                </a:solidFill>
                <a:latin typeface="Consolas"/>
              </a:rPr>
              <a:t>I(c,d) =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7E1EC"/>
                </a:solidFill>
                <a:latin typeface="Consolas"/>
              </a:rPr>
              <a:t>  [ exploit known emitters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7E1EC"/>
                </a:solidFill>
                <a:latin typeface="Consolas"/>
              </a:rPr>
              <a:t>  + discover new emitters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7E1EC"/>
                </a:solidFill>
                <a:latin typeface="Consolas"/>
              </a:rPr>
              <a:t>  + λ · information gain ]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7E1EC"/>
                </a:solidFill>
                <a:latin typeface="Consolas"/>
              </a:rPr>
              <a:t>  ÷ (dwell + retune cost)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49640" y="4069080"/>
            <a:ext cx="3200400" cy="1965960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0" y="416052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A61E"/>
                </a:solidFill>
                <a:latin typeface="Calibri"/>
              </a:rPr>
              <a:t>TECH STACK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4434840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>
                <a:solidFill>
                  <a:srgbClr val="D7E1EC"/>
                </a:solidFill>
                <a:latin typeface="Calibri"/>
              </a:rPr>
              <a:t>•  Python 3.12 + NumPy — core index/predict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>
                <a:solidFill>
                  <a:srgbClr val="D7E1EC"/>
                </a:solidFill>
                <a:latin typeface="Calibri"/>
              </a:rPr>
              <a:t>•  Gymnasium + SB3 Double-DQN — ML comparator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>
                <a:solidFill>
                  <a:srgbClr val="D7E1EC"/>
                </a:solidFill>
                <a:latin typeface="Calibri"/>
              </a:rPr>
              <a:t>•  FastAPI backend  ·  Next.js/React frontend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>
                <a:solidFill>
                  <a:srgbClr val="D7E1EC"/>
                </a:solidFill>
                <a:latin typeface="Calibri"/>
              </a:rPr>
              <a:t>•  pytest (20 tests) · seeded, replayable benchmark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8A9BB0"/>
                </a:solidFill>
                <a:latin typeface="Calibri"/>
              </a:rPr>
              <a:t>Repo modules: primes/env (receiver+scenarios) · primes/predict (track models) · primes/policies/primes_lite.py (index) · api/main.py + web/ (demo)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61E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Impact &amp;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9144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8A9BB0"/>
                </a:solidFill>
                <a:latin typeface="Calibri"/>
              </a:rPr>
              <a:t>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BB0"/>
                </a:solidFill>
                <a:latin typeface="Calibri"/>
              </a:rPr>
              <a:t>Smart Scan Strategy for Electronic Warfare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697480" cy="1188720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2697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2EC4B6"/>
                </a:solidFill>
                <a:latin typeface="Calibri"/>
              </a:rPr>
              <a:t>4.2×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D7E1EC"/>
                </a:solidFill>
                <a:latin typeface="Calibri"/>
              </a:rPr>
              <a:t>more flashes intercepted vs.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D7E1EC"/>
                </a:solidFill>
                <a:latin typeface="Calibri"/>
              </a:rPr>
              <a:t>open-loop sweep (real data)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371600"/>
            <a:ext cx="2697480" cy="1188720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481328"/>
            <a:ext cx="2697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4CD97B"/>
                </a:solidFill>
                <a:latin typeface="Calibri"/>
              </a:rPr>
              <a:t>69.8%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05740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D7E1EC"/>
                </a:solidFill>
                <a:latin typeface="Calibri"/>
              </a:rPr>
              <a:t>Smart Scan interception on real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D7E1EC"/>
                </a:solidFill>
                <a:latin typeface="Calibri"/>
              </a:rPr>
              <a:t>Turing dataset scenarios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71600"/>
            <a:ext cx="2697480" cy="1188720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481328"/>
            <a:ext cx="2697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2A61E"/>
                </a:solidFill>
                <a:latin typeface="Calibri"/>
              </a:rPr>
              <a:t>95%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05740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D7E1EC"/>
                </a:solidFill>
                <a:latin typeface="Calibri"/>
              </a:rPr>
              <a:t>lock-out emitters discovered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D7E1EC"/>
                </a:solidFill>
                <a:latin typeface="Calibri"/>
              </a:rPr>
              <a:t>(raster: only 15%)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371600"/>
            <a:ext cx="2697480" cy="1188720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481328"/>
            <a:ext cx="2697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2EC4B6"/>
                </a:solidFill>
                <a:latin typeface="Calibri"/>
              </a:rPr>
              <a:t>3.2×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05740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D7E1EC"/>
                </a:solidFill>
                <a:latin typeface="Calibri"/>
              </a:rPr>
              <a:t>faster time-to-first-catch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D7E1EC"/>
                </a:solidFill>
                <a:latin typeface="Calibri"/>
              </a:rPr>
              <a:t>(lock-out: 55.7s → 17.2s)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61E"/>
                </a:solidFill>
                <a:latin typeface="Calibri"/>
              </a:rPr>
              <a:t>HEADLINE BENCHMARK (610 runs, real dataset scenarios)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3108960"/>
          <a:ext cx="59436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011680"/>
              </a:tblGrid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E33"/>
                          </a:solidFill>
                          <a:latin typeface="Calibri"/>
                        </a:rPr>
                        <a:t>Scheme</a:t>
                      </a:r>
                    </a:p>
                  </a:txBody>
                  <a:tcPr marL="76200" marR="76200" marT="38100" marB="38100" anchor="ctr"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B1E33"/>
                          </a:solidFill>
                          <a:latin typeface="Calibri"/>
                        </a:rPr>
                        <a:t>Interception</a:t>
                      </a:r>
                    </a:p>
                  </a:txBody>
                  <a:tcPr marL="76200" marR="76200" marT="38100" marB="38100" anchor="ctr">
                    <a:solidFill>
                      <a:srgbClr val="2EC4B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7E1EC"/>
                          </a:solidFill>
                          <a:latin typeface="Calibri"/>
                        </a:rPr>
                        <a:t>Open-loop raster</a:t>
                      </a:r>
                    </a:p>
                  </a:txBody>
                  <a:tcPr marL="76200" marR="76200" marT="38100" marB="38100" anchor="ctr">
                    <a:solidFill>
                      <a:srgbClr val="112A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7E1EC"/>
                          </a:solidFill>
                          <a:latin typeface="Calibri"/>
                        </a:rPr>
                        <a:t>16.8%</a:t>
                      </a:r>
                    </a:p>
                  </a:txBody>
                  <a:tcPr marL="76200" marR="76200" marT="38100" marB="38100" anchor="ctr">
                    <a:solidFill>
                      <a:srgbClr val="112A4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7E1EC"/>
                          </a:solidFill>
                          <a:latin typeface="Calibri"/>
                        </a:rPr>
                        <a:t>Greedy bandit</a:t>
                      </a:r>
                    </a:p>
                  </a:txBody>
                  <a:tcPr marL="76200" marR="76200" marT="38100" marB="38100" anchor="ctr">
                    <a:solidFill>
                      <a:srgbClr val="16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7E1EC"/>
                          </a:solidFill>
                          <a:latin typeface="Calibri"/>
                        </a:rPr>
                        <a:t>20.3%</a:t>
                      </a:r>
                    </a:p>
                  </a:txBody>
                  <a:tcPr marL="76200" marR="76200" marT="38100" marB="38100" anchor="ctr">
                    <a:solidFill>
                      <a:srgbClr val="163354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7E1EC"/>
                          </a:solidFill>
                          <a:latin typeface="Calibri"/>
                        </a:rPr>
                        <a:t>Double-DQN</a:t>
                      </a:r>
                    </a:p>
                  </a:txBody>
                  <a:tcPr marL="76200" marR="76200" marT="38100" marB="38100" anchor="ctr">
                    <a:solidFill>
                      <a:srgbClr val="112A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7E1EC"/>
                          </a:solidFill>
                          <a:latin typeface="Calibri"/>
                        </a:rPr>
                        <a:t>15.3%</a:t>
                      </a:r>
                    </a:p>
                  </a:txBody>
                  <a:tcPr marL="76200" marR="76200" marT="38100" marB="38100" anchor="ctr">
                    <a:solidFill>
                      <a:srgbClr val="112A4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7E1EC"/>
                          </a:solidFill>
                          <a:latin typeface="Calibri"/>
                        </a:rPr>
                        <a:t>Smart Scan</a:t>
                      </a:r>
                    </a:p>
                  </a:txBody>
                  <a:tcPr marL="76200" marR="76200" marT="38100" marB="38100" anchor="ctr">
                    <a:solidFill>
                      <a:srgbClr val="16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7E1EC"/>
                          </a:solidFill>
                          <a:latin typeface="Calibri"/>
                        </a:rPr>
                        <a:t>69.8%</a:t>
                      </a:r>
                    </a:p>
                  </a:txBody>
                  <a:tcPr marL="76200" marR="76200" marT="38100" marB="38100" anchor="ctr">
                    <a:solidFill>
                      <a:srgbClr val="163354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7E1EC"/>
                          </a:solidFill>
                          <a:latin typeface="Calibri"/>
                        </a:rPr>
                        <a:t>Clairvoyant oracle (upper bound)</a:t>
                      </a:r>
                    </a:p>
                  </a:txBody>
                  <a:tcPr marL="76200" marR="76200" marT="38100" marB="38100" anchor="ctr">
                    <a:solidFill>
                      <a:srgbClr val="112A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7E1EC"/>
                          </a:solidFill>
                          <a:latin typeface="Calibri"/>
                        </a:rPr>
                        <a:t>84.8%</a:t>
                      </a:r>
                    </a:p>
                  </a:txBody>
                  <a:tcPr marL="76200" marR="76200" marT="38100" marB="38100" anchor="ctr">
                    <a:solidFill>
                      <a:srgbClr val="112A46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720840" y="310896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300">
                <a:solidFill>
                  <a:srgbClr val="2EC4B6"/>
                </a:solidFill>
                <a:latin typeface="Calibri"/>
              </a:rPr>
              <a:t>›  Operational</a:t>
            </a:r>
            <a:r>
              <a:rPr sz="1300">
                <a:solidFill>
                  <a:srgbClr val="D7E1EC"/>
                </a:solidFill>
                <a:latin typeface="Calibri"/>
              </a:rPr>
              <a:t>  4.2× more of the EM picture; blind spots eliminated; earlier warning; better PRI/scan estimates from more samples.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300">
                <a:solidFill>
                  <a:srgbClr val="2EC4B6"/>
                </a:solidFill>
                <a:latin typeface="Calibri"/>
              </a:rPr>
              <a:t>›  Economic</a:t>
            </a:r>
            <a:r>
              <a:rPr sz="1300">
                <a:solidFill>
                  <a:srgbClr val="D7E1EC"/>
                </a:solidFill>
                <a:latin typeface="Calibri"/>
              </a:rPr>
              <a:t>  Zero new hardware — a software upgrade to fielded receivers; one artefact set deploys fleet-wide.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300">
                <a:solidFill>
                  <a:srgbClr val="2EC4B6"/>
                </a:solidFill>
                <a:latin typeface="Calibri"/>
              </a:rPr>
              <a:t>›  Strategic</a:t>
            </a:r>
            <a:r>
              <a:rPr sz="1300">
                <a:solidFill>
                  <a:srgbClr val="D7E1EC"/>
                </a:solidFill>
                <a:latin typeface="Calibri"/>
              </a:rPr>
              <a:t>  Works without an imported threat library; priors refit locally; transparent, auditable AI (not black-box RL).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300">
                <a:solidFill>
                  <a:srgbClr val="2EC4B6"/>
                </a:solidFill>
                <a:latin typeface="Calibri"/>
              </a:rPr>
              <a:t>›  Beyond defence</a:t>
            </a:r>
            <a:r>
              <a:rPr sz="1300">
                <a:solidFill>
                  <a:srgbClr val="D7E1EC"/>
                </a:solidFill>
                <a:latin typeface="Calibri"/>
              </a:rPr>
              <a:t>  Spectrum regulation, interference hunting, radio-astronomy RFI mitigation, general sensor scheduling.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61E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Feasibility &amp; Viability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9144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8A9BB0"/>
                </a:solidFill>
                <a:latin typeface="Calibri"/>
              </a:rPr>
              <a:t>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BB0"/>
                </a:solidFill>
                <a:latin typeface="Calibri"/>
              </a:rPr>
              <a:t>Smart Scan Strategy for Electronic Warfare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C4B6"/>
                </a:solidFill>
                <a:latin typeface="Calibri"/>
              </a:rPr>
              <a:t>Not a proposal — a working, tested prototype with measured results.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5577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50">
                <a:solidFill>
                  <a:srgbClr val="D7E1EC"/>
                </a:solidFill>
                <a:latin typeface="Calibri"/>
              </a:rPr>
              <a:t>›  20 unit tests · 610-run multi-seed benchmark (95% bootstrap CIs)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50">
                <a:solidFill>
                  <a:srgbClr val="D7E1EC"/>
                </a:solidFill>
                <a:latin typeface="Calibri"/>
              </a:rPr>
              <a:t>›  1,008-run robustness sweep across P_d / P_fa conditions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50">
                <a:solidFill>
                  <a:srgbClr val="D7E1EC"/>
                </a:solidFill>
                <a:latin typeface="Calibri"/>
              </a:rPr>
              <a:t>›  Validated on 11 real Turing dataset scenarios, not just simulation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50">
                <a:solidFill>
                  <a:srgbClr val="D7E1EC"/>
                </a:solidFill>
                <a:latin typeface="Calibri"/>
              </a:rPr>
              <a:t>›  Smart Scan / oracle ratio stays 0.67–0.75 as detection probability drops 1.0→0.5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50">
                <a:solidFill>
                  <a:srgbClr val="D7E1EC"/>
                </a:solidFill>
                <a:latin typeface="Calibri"/>
              </a:rPr>
              <a:t>›  ≤2-point interception loss up to ~23 false alarms/run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5577840" cy="1965960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2062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A61E"/>
                </a:solidFill>
                <a:latin typeface="Calibri"/>
              </a:rPr>
              <a:t>RESOURCE FEASIBILITY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480560"/>
            <a:ext cx="5257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>
                <a:solidFill>
                  <a:srgbClr val="D7E1EC"/>
                </a:solidFill>
                <a:latin typeface="Calibri"/>
              </a:rPr>
              <a:t>•  Dev compute: a laptop (benchmark ~45 min on 3 cores)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>
                <a:solidFill>
                  <a:srgbClr val="D7E1EC"/>
                </a:solidFill>
                <a:latin typeface="Calibri"/>
              </a:rPr>
              <a:t>•  Data: open, Apache-2.0 licensed, streamed (no bulk storage)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>
                <a:solidFill>
                  <a:srgbClr val="D7E1EC"/>
                </a:solidFill>
                <a:latin typeface="Calibri"/>
              </a:rPr>
              <a:t>•  Licences/cost: $0 — fully open-source stack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>
                <a:solidFill>
                  <a:srgbClr val="D7E1EC"/>
                </a:solidFill>
                <a:latin typeface="Calibri"/>
              </a:rPr>
              <a:t>•  Runtime target: ~10⁴ ops/decision → fits embedded CPU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78308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A61E"/>
                </a:solidFill>
                <a:latin typeface="Calibri"/>
              </a:rPr>
              <a:t>PATH TO FIELDED CAPABILITY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355080" y="2148840"/>
          <a:ext cx="5394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926080"/>
                <a:gridCol w="109728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E33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76200" marR="76200" marT="38100" marB="38100" anchor="ctr"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1E33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 marL="76200" marR="76200" marT="38100" marB="38100" anchor="ctr"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1E33"/>
                          </a:solidFill>
                          <a:latin typeface="Calibri"/>
                        </a:rPr>
                        <a:t>Effort</a:t>
                      </a:r>
                    </a:p>
                  </a:txBody>
                  <a:tcPr marL="76200" marR="76200" marT="38100" marB="38100" anchor="ctr">
                    <a:solidFill>
                      <a:srgbClr val="2EC4B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7E1EC"/>
                          </a:solidFill>
                          <a:latin typeface="Calibri"/>
                        </a:rPr>
                        <a:t>TRL 3–4 (now)</a:t>
                      </a:r>
                    </a:p>
                  </a:txBody>
                  <a:tcPr marL="76200" marR="76200" marT="38100" marB="38100" anchor="ctr">
                    <a:solidFill>
                      <a:srgbClr val="112A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7E1EC"/>
                          </a:solidFill>
                          <a:latin typeface="Calibri"/>
                        </a:rPr>
                        <a:t>Algorithm + simulator + dataset validation + demo</a:t>
                      </a:r>
                    </a:p>
                  </a:txBody>
                  <a:tcPr marL="76200" marR="76200" marT="38100" marB="38100" anchor="ctr">
                    <a:solidFill>
                      <a:srgbClr val="112A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7E1EC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6200" marR="76200" marT="38100" marB="38100" anchor="ctr">
                    <a:solidFill>
                      <a:srgbClr val="112A4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7E1EC"/>
                          </a:solidFill>
                          <a:latin typeface="Calibri"/>
                        </a:rPr>
                        <a:t>TRL 4–5</a:t>
                      </a:r>
                    </a:p>
                  </a:txBody>
                  <a:tcPr marL="76200" marR="76200" marT="38100" marB="38100" anchor="ctr">
                    <a:solidFill>
                      <a:srgbClr val="16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7E1EC"/>
                          </a:solidFill>
                          <a:latin typeface="Calibri"/>
                        </a:rPr>
                        <a:t>Real deinterleaving, HW-in-loop (SDR), C++/ONNX port</a:t>
                      </a:r>
                    </a:p>
                  </a:txBody>
                  <a:tcPr marL="76200" marR="76200" marT="38100" marB="38100" anchor="ctr">
                    <a:solidFill>
                      <a:srgbClr val="16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7E1EC"/>
                          </a:solidFill>
                          <a:latin typeface="Calibri"/>
                        </a:rPr>
                        <a:t>3–6 mo</a:t>
                      </a:r>
                    </a:p>
                  </a:txBody>
                  <a:tcPr marL="76200" marR="76200" marT="38100" marB="38100" anchor="ctr">
                    <a:solidFill>
                      <a:srgbClr val="16335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7E1EC"/>
                          </a:solidFill>
                          <a:latin typeface="Calibri"/>
                        </a:rPr>
                        <a:t>TRL 5–6</a:t>
                      </a:r>
                    </a:p>
                  </a:txBody>
                  <a:tcPr marL="76200" marR="76200" marT="38100" marB="38100" anchor="ctr">
                    <a:solidFill>
                      <a:srgbClr val="112A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7E1EC"/>
                          </a:solidFill>
                          <a:latin typeface="Calibri"/>
                        </a:rPr>
                        <a:t>ESM suite integration, multi-receiver, trials</a:t>
                      </a:r>
                    </a:p>
                  </a:txBody>
                  <a:tcPr marL="76200" marR="76200" marT="38100" marB="38100" anchor="ctr">
                    <a:solidFill>
                      <a:srgbClr val="112A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7E1EC"/>
                          </a:solidFill>
                          <a:latin typeface="Calibri"/>
                        </a:rPr>
                        <a:t>6–12 mo</a:t>
                      </a:r>
                    </a:p>
                  </a:txBody>
                  <a:tcPr marL="76200" marR="76200" marT="38100" marB="38100" anchor="ctr">
                    <a:solidFill>
                      <a:srgbClr val="112A4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7E1EC"/>
                          </a:solidFill>
                          <a:latin typeface="Calibri"/>
                        </a:rPr>
                        <a:t>TRL 6+</a:t>
                      </a:r>
                    </a:p>
                  </a:txBody>
                  <a:tcPr marL="76200" marR="76200" marT="38100" marB="38100" anchor="ctr">
                    <a:solidFill>
                      <a:srgbClr val="16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7E1EC"/>
                          </a:solidFill>
                          <a:latin typeface="Calibri"/>
                        </a:rPr>
                        <a:t>Multi-platform fusion, certification, field trials</a:t>
                      </a:r>
                    </a:p>
                  </a:txBody>
                  <a:tcPr marL="76200" marR="76200" marT="38100" marB="38100" anchor="ctr">
                    <a:solidFill>
                      <a:srgbClr val="16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7E1EC"/>
                          </a:solidFill>
                          <a:latin typeface="Calibri"/>
                        </a:rPr>
                        <a:t>12+ mo</a:t>
                      </a:r>
                    </a:p>
                  </a:txBody>
                  <a:tcPr marL="76200" marR="76200" marT="38100" marB="38100" anchor="ctr">
                    <a:solidFill>
                      <a:srgbClr val="163354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355080" y="4526280"/>
            <a:ext cx="5394960" cy="1554480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61772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A61E"/>
                </a:solidFill>
                <a:latin typeface="Calibri"/>
              </a:rPr>
              <a:t>KEY RISK &amp; MITIGATION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892040"/>
            <a:ext cx="5120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b="1" sz="1100">
                <a:solidFill>
                  <a:srgbClr val="2EC4B6"/>
                </a:solidFill>
                <a:latin typeface="Calibri"/>
              </a:rPr>
              <a:t>›  Missed detections/false alarms</a:t>
            </a:r>
            <a:r>
              <a:rPr sz="1100">
                <a:solidFill>
                  <a:srgbClr val="D7E1EC"/>
                </a:solidFill>
                <a:latin typeface="Calibri"/>
              </a:rPr>
              <a:t>  Graceful degradation is measured, not assumed.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b="1" sz="1100">
                <a:solidFill>
                  <a:srgbClr val="2EC4B6"/>
                </a:solidFill>
                <a:latin typeface="Calibri"/>
              </a:rPr>
              <a:t>›  Real deinterleaving imperfect</a:t>
            </a:r>
            <a:r>
              <a:rPr sz="1100">
                <a:solidFill>
                  <a:srgbClr val="D7E1EC"/>
                </a:solidFill>
                <a:latin typeface="Calibri"/>
              </a:rPr>
              <a:t>  Prototype assumes upstream ID; dataset benchmarks this gap directly.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b="1" sz="1100">
                <a:solidFill>
                  <a:srgbClr val="2EC4B6"/>
                </a:solidFill>
                <a:latin typeface="Calibri"/>
              </a:rPr>
              <a:t>›  Embedded real-time budget</a:t>
            </a:r>
            <a:r>
              <a:rPr sz="1100">
                <a:solidFill>
                  <a:srgbClr val="D7E1EC"/>
                </a:solidFill>
                <a:latin typeface="Calibri"/>
              </a:rPr>
              <a:t>  Bounded per-decision cost by design; ONNX/C++ port path defined.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61E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Links &amp;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9144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8A9BB0"/>
                </a:solidFill>
                <a:latin typeface="Calibri"/>
              </a:rPr>
              <a:t>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BB0"/>
                </a:solidFill>
                <a:latin typeface="Calibri"/>
              </a:rPr>
              <a:t>Smart Scan Strategy for Electronic Warfare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5577840" cy="1691640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61E"/>
                </a:solidFill>
                <a:latin typeface="Calibri"/>
              </a:rPr>
              <a:t>PROJECT LINKS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>
                <a:solidFill>
                  <a:srgbClr val="D7E1EC"/>
                </a:solidFill>
                <a:latin typeface="Calibri"/>
              </a:rPr>
              <a:t>•  Repo: github.com/abhishek-pandey7/Smart-Scan-strategy-for-Electronic-Warfare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>
                <a:solidFill>
                  <a:srgbClr val="D7E1EC"/>
                </a:solidFill>
                <a:latin typeface="Calibri"/>
              </a:rPr>
              <a:t>•  Full architecture doc: docs/SMART_SCAN_FULL_ARCHITECTURE.md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>
                <a:solidFill>
                  <a:srgbClr val="D7E1EC"/>
                </a:solidFill>
                <a:latin typeface="Calibri"/>
              </a:rPr>
              <a:t>•  Live demo (local): localhost:3000/mission?scenario=lockout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46120"/>
            <a:ext cx="5577840" cy="2788920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33756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61E"/>
                </a:solidFill>
                <a:latin typeface="Calibri"/>
              </a:rPr>
              <a:t>REPRODUCE IT YOURSELF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57600"/>
            <a:ext cx="5303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CD97B"/>
                </a:solidFill>
                <a:latin typeface="Consolas"/>
              </a:rPr>
              <a:t>pip install -r requirements.txt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CD97B"/>
                </a:solidFill>
                <a:latin typeface="Consolas"/>
              </a:rPr>
              <a:t>pytest -q                                  # 20 tests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CD97B"/>
                </a:solidFill>
                <a:latin typeface="Consolas"/>
              </a:rPr>
              <a:t>python -m experiments.benchmark --seeds 10 # rebuild benchmark.json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CD97B"/>
                </a:solidFill>
                <a:latin typeface="Consolas"/>
              </a:rPr>
              <a:t>uvicorn api.main:app --port 8000            # backend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CD97B"/>
                </a:solidFill>
                <a:latin typeface="Consolas"/>
              </a:rPr>
              <a:t>cd web &amp;&amp; npm install &amp;&amp; npm run dev        # demo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41732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61E"/>
                </a:solidFill>
                <a:latin typeface="Calibri"/>
              </a:rPr>
              <a:t>PRIOR ART WE BUILD 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8308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D7E1EC"/>
                </a:solidFill>
                <a:latin typeface="Calibri"/>
              </a:rPr>
              <a:t>•  Clarkson, Optimisation of periodic search strategies for ES, IEEE Trans. AES 2011 — lock-out theory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D7E1EC"/>
                </a:solidFill>
                <a:latin typeface="Calibri"/>
              </a:rPr>
              <a:t>•  Liu &amp; Zhao, Indexability of restless bandits &amp; Whittle index, IEEE Trans. IT 2010 — index paradigm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D7E1EC"/>
                </a:solidFill>
                <a:latin typeface="Calibri"/>
              </a:rPr>
              <a:t>•  Nakhleh et al., NeurWIN: Neural Whittle Index Network, NeurIPS 2021 — learned index roadmap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D7E1EC"/>
                </a:solidFill>
                <a:latin typeface="Calibri"/>
              </a:rPr>
              <a:t>•  ML-based Receiver Scheduling for ES (Double-DQN), IEEE Xplore 11310649 — our comparator baseline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D7E1EC"/>
                </a:solidFill>
                <a:latin typeface="Calibri"/>
              </a:rPr>
              <a:t>•  The Alan Turing Institute, Turing Synthetic Radar Dataset, arXiv:2602.03856 — validation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4892040"/>
            <a:ext cx="5394960" cy="1143000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98348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1">
                <a:solidFill>
                  <a:srgbClr val="F2A61E"/>
                </a:solidFill>
                <a:latin typeface="Calibri"/>
              </a:rPr>
              <a:t>Every figure in this deck is reproducible bit-for-bit from a seed — no number here is hand-picked.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